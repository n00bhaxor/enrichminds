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5" name="Shape 55"/>
        <p:cNvGrpSpPr/>
        <p:nvPr/>
      </p:nvGrpSpPr>
      <p:grpSpPr>
        <a:xfrm>
          <a:off x="0" y="0"/>
          <a:ext cx="0" cy="0"/>
          <a:chOff x="0" y="0"/>
          <a:chExt cx="0" cy="0"/>
        </a:xfrm>
      </p:grpSpPr>
      <p:sp>
        <p:nvSpPr>
          <p:cNvPr id="56" name="Google Shape;56;g59c9672e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59c9672e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We’re going to cover a basic introduction to penetration testing, the phases that make up a penetration test, and we’ll do some hands on labs to get familiar with some of the tools.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1" name="Shape 61"/>
        <p:cNvGrpSpPr/>
        <p:nvPr/>
      </p:nvGrpSpPr>
      <p:grpSpPr>
        <a:xfrm>
          <a:off x="0" y="0"/>
          <a:ext cx="0" cy="0"/>
          <a:chOff x="0" y="0"/>
          <a:chExt cx="0" cy="0"/>
        </a:xfrm>
      </p:grpSpPr>
      <p:sp>
        <p:nvSpPr>
          <p:cNvPr id="62" name="Google Shape;62;g59c9672e1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59c9672e1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NIST stands for the National Institute for Standards and Technology. It is an organization dedicated to engineering and recommending standards for a number of purposes, including measurements, cybersecurity, and what is referred to as the Risk Management Framework, or RMF.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Penetration testing as defined in NIST Special Publication 800-115 states that penetration testing mimics real world attacks designed to circumvent the security features of Applications, Systems, and Networks. It is a very specialized skill, which is labor intensive, and requires a lot of training and knowledge. The reason such skill and knowledge is required is due to the increased risk put on systems during penetration testing. Skilled testers have the knowledge required to minimize the risk inherent in testing the security of complex systems.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notable attack path that testers will utilize is something called exploit chaining, which is just a fancy way of saying that they try to string two or more exploits together in order to gain greater authorization or access than they initially had.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strings of exploits can be technical, non-technical, or a combination of both. But how can a penetration test of a computer system involve non-technical vulnerabilities and exploits? The non-technical portion of penetration testing goes after the weakest part of any computer system -- the end user. Attackers may try to exploit an end user using social engineering to gain an initial foothold on a system, and from there, launch an attack from inside the network.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types of social engineering attacks can you think of?</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8" name="Shape 68"/>
        <p:cNvGrpSpPr/>
        <p:nvPr/>
      </p:nvGrpSpPr>
      <p:grpSpPr>
        <a:xfrm>
          <a:off x="0" y="0"/>
          <a:ext cx="0" cy="0"/>
          <a:chOff x="0" y="0"/>
          <a:chExt cx="0" cy="0"/>
        </a:xfrm>
      </p:grpSpPr>
      <p:sp>
        <p:nvSpPr>
          <p:cNvPr id="69" name="Google Shape;69;g59c9672e1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59c9672e1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These are the four phases of a penetration test according to NIST. Other frameworks may define them differently, but they all boil down to these four main phases. Most of these phases have more than one task associated with each.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Planning phase, or the boring part, is where everyone gets together to discuss what’s going to be tested, how long the test window is, who the testers are, who the testers will contact if they break something, and the overall objectives of the test. The most important part of this phase is your scope and your “get out of jail free” card. This is where you get the permission to test the things that you’re going to test. Otherwise, you’re just a bad guy breaking the law. So while some may consider this phase boring, it’s really more important than the actual attack phase.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Let’s reiterate.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IS THE PART WHERE YOU GET PERMISSION TO DO ALL THE THINGS SO YOU DON’T GO TO JAIL, OR GET SUED OR GET EXPELLED, OR ANY NUMBER OF BAD THINGS THAT CAN GO ON YOUR PERMANENT RECORD.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If in doubt, ask!</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8" name="Shape 78"/>
        <p:cNvGrpSpPr/>
        <p:nvPr/>
      </p:nvGrpSpPr>
      <p:grpSpPr>
        <a:xfrm>
          <a:off x="0" y="0"/>
          <a:ext cx="0" cy="0"/>
          <a:chOff x="0" y="0"/>
          <a:chExt cx="0" cy="0"/>
        </a:xfrm>
      </p:grpSpPr>
      <p:sp>
        <p:nvSpPr>
          <p:cNvPr id="79" name="Google Shape;79;g59c9672e1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59c9672e1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Discovery phase is where the fun starts to happen. You being to research your target(s), use awesome search tools, gather intel, or OSINT on your targets, and begin formulating a plan on how you’re going to attack your target. This is where we’ll do our first lab, using a tool called Recon-NG. What’s Recon short for?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Right! Reconnaissance -- a word that is nearly impossible to spell correctly (Thank you, Spellcheck!). What types of information are we trying to obtain? Well. . . Anything, really. Anything that could be useful to an attacker. It could be an operating system, or an email address, or even a phone number. All of this information will help us determine our attack points. And remember. They can be technical or non-technical,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stop here and do our Recon-NG lab.</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8" name="Shape 88"/>
        <p:cNvGrpSpPr/>
        <p:nvPr/>
      </p:nvGrpSpPr>
      <p:grpSpPr>
        <a:xfrm>
          <a:off x="0" y="0"/>
          <a:ext cx="0" cy="0"/>
          <a:chOff x="0" y="0"/>
          <a:chExt cx="0" cy="0"/>
        </a:xfrm>
      </p:grpSpPr>
      <p:sp>
        <p:nvSpPr>
          <p:cNvPr id="89" name="Google Shape;89;g59c9672e1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59c9672e1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We’ve got more activities associated with Discovery. Why do you think that is? Why should so much time be spent on the discovery phase of an attack?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Right! The more information we have as an attacker, the better informed we are about the system we’re attacking. We want to try to gain as much intelligence about our target as we can. So what else can we do besides internet searches for our target? We can use tools to scan them to try to gather more information about the systems we’re targeting.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can use a tool called nmap (The de facto standard when it comes to network mapping. . . Network MAPping. . . nmap. . . I see what they did there.) We could work for an entire week and still barely scratch the surface of what nmap can do, but we’ll go over a few of the more common practices in our nmap lab, which starts right about. . . NOW!</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8" name="Shape 98"/>
        <p:cNvGrpSpPr/>
        <p:nvPr/>
      </p:nvGrpSpPr>
      <p:grpSpPr>
        <a:xfrm>
          <a:off x="0" y="0"/>
          <a:ext cx="0" cy="0"/>
          <a:chOff x="0" y="0"/>
          <a:chExt cx="0" cy="0"/>
        </a:xfrm>
      </p:grpSpPr>
      <p:sp>
        <p:nvSpPr>
          <p:cNvPr id="99" name="Google Shape;99;g59d2f26df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59d2f26df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attacking can mean a few different things. Can you think of some examples?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Generally, an attacker is going to follow the easiest path they can the gain the access the want. 0-day exploits sell of big $$ on the exploit market. Why is an attacker going to use and possibly burn an exploit that cost $100,000 when they can get access to sensitive information because someone left an anonymous FTP server open on the Internet, and some poor systems administrator who is overworked accidentally left a backup of a sensitive file on the server? The answer is they won’t. The bad guy is (generally speaking) going to spend as little energy and money as possible to gain the desired level of access.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our case, we took advantage of a sensitive backup file being essentially discarded. You might be thinking that is not really an exploit, right? It’s not a bug in a piece of software that we’ve taken advantage of. And you’re right. We didn’t take advantage of a bug in a piece of software. We’ve taken advantage of a bug in a person. A very tired, forgetful, possibly bordering on unemployed, systems administrator. Remember! Attack paths can be technical or non-technical.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8" name="Shape 108"/>
        <p:cNvGrpSpPr/>
        <p:nvPr/>
      </p:nvGrpSpPr>
      <p:grpSpPr>
        <a:xfrm>
          <a:off x="0" y="0"/>
          <a:ext cx="0" cy="0"/>
          <a:chOff x="0" y="0"/>
          <a:chExt cx="0" cy="0"/>
        </a:xfrm>
      </p:grpSpPr>
      <p:sp>
        <p:nvSpPr>
          <p:cNvPr id="109" name="Google Shape;109;g59d2f26df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59d2f26df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let’s “chain” this particular exploitation path together with another exploit. Think back to our Linux classes, and our discussion surrounding the /etc/shadow file. What types of information are in the shadow file. Right! User name, password hash, and password expiration information. In our case, this “database” of user names and passwords hashes is a flat, local file on our system. But there’s really no difference when we’re talking about large, corporate infrastructures and how they store their passwords. The format is a little different, but the information is essentially the same. It’s a database that holds user names, password hashes (hopefully), account information, and password expiration information. If an attacker is able to gain access to this database, it’s no different than gaining access to a shadow file. We’re simply scaling it down to a workable lab.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is this a technical, or a non-technical attack? Well, it’s kinda both really, and here’s why. Remember we talked about the different types of hashing algorithms? des_crypt, MD5, SHA, SHA512, etc… Well, that’s the technical side of password attacks, and it’s related to the amount of time it takes to hash a string (or password) as well as the possibility that two different strings will produce the same hash. And in the case of des_crypt, it is also related to the strength of the password.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case of des_crypt, we can only create a password up to 8 characters. I know, right!? This severely limits the complexity and length of our password, which is directly related to the strength of our password. Given the right hardware, we can crack almost all des_crypt passwords in a short period of time. So super smart math guys came up with other hashing algorithms, like MD5, and SHA, which allow for more complex passwords, and are less prone to certain types of attacks called collision attacks.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 anyone guess what a hash collision is? Yes! It’s when two different strings are put through the same hashing algorithm and produce the same hash. What can that allow an attacker to do? Now, let’s try to crack some passwords. .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Password cracking lab.</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8" name="Shape 118"/>
        <p:cNvGrpSpPr/>
        <p:nvPr/>
      </p:nvGrpSpPr>
      <p:grpSpPr>
        <a:xfrm>
          <a:off x="0" y="0"/>
          <a:ext cx="0" cy="0"/>
          <a:chOff x="0" y="0"/>
          <a:chExt cx="0" cy="0"/>
        </a:xfrm>
      </p:grpSpPr>
      <p:sp>
        <p:nvSpPr>
          <p:cNvPr id="119" name="Google Shape;119;g59d2f26df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59d2f26df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Cool! So we’ve got some cracked passwords. And we’ve got user names too, right? Well, we’ve got the user names that came with the passwords that we cracked.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major weakness in systems today is default user names and passwords. And it’s easy to perform this type of attack with a simple google search. For example, the default user name and password for Dell iDRAC is root and calvin. There are huge lists on the internet that list default usernames and passwords for large numbers of product vendors. It’s for this reason that some products have begun making admins create passwords during product installation. And it’s also the reason that there is a specific requirement in that Risk Management Framework thing that we talked about that requires admins to change all default passwords upon installation. But that doesn’t mean everyone follows those guidelines, right? So, now that we have a list of passwords, and a short list of users, let’s continue to “chain” our attack. Let’s add to our user 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major avenue of compromise is password reuse. Who here has reused passwords before? I know I’ve been guilty of it in the past. It could be password reuse between different web sites, or it could be password reuse between different types of accounts. Organizations (if they’re smart) have begun creating distinct accounts for administrative users, only to be used for administrative purposes. And it’s easy for them to make sure that users don’t reuse the same password for the same account. What’s difficult is for them to enforce different passwords for different accounts, and the use case for this is so small, that it’s probably a feature that’s never been considered.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we know that as human beings, we’re going to find shortcuts and ways to simplify our lives whenever possible. This leads to administrative users using the same password for their regular account as well as for their administrative accounts. So, if an attacker is able to steal an administrative user’s standard account password, there is a possibility that the attacker will be able to use</a:t>
            </a:r>
            <a:r>
              <a:rPr lang="en"/>
              <a:t> the same password for the user’s administrative account.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is also a new method of taking advantage of password reuse, called credential stuffing, which enables attackers to try a large number of passwords from previous compromises. These password lists are readily available online. </a:t>
            </a:r>
            <a:r>
              <a:rPr lang="en"/>
              <a:t>However, this is simply password reuse at scale.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let’s try to come up with some possible “default” user names to add to our list of generic users. And let’s take that list of users and passwords and keep on chaining. .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Hydra lab. .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8" name="Shape 128"/>
        <p:cNvGrpSpPr/>
        <p:nvPr/>
      </p:nvGrpSpPr>
      <p:grpSpPr>
        <a:xfrm>
          <a:off x="0" y="0"/>
          <a:ext cx="0" cy="0"/>
          <a:chOff x="0" y="0"/>
          <a:chExt cx="0" cy="0"/>
        </a:xfrm>
      </p:grpSpPr>
      <p:sp>
        <p:nvSpPr>
          <p:cNvPr id="129" name="Google Shape;129;g59d2f26df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59d2f26df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Awesome! We gained access to our system. The next types of attacks that a malicious user would perform are something called lateral movement and/or privilege escalation. L</a:t>
            </a:r>
            <a:r>
              <a:rPr lang="en"/>
              <a:t>a</a:t>
            </a:r>
            <a:r>
              <a:rPr lang="en"/>
              <a:t>teral movement is nothing more that pivoting, logging in, or remotely accessing other systems that are network connected to the machine the attacker just exploited. Privilege escalation is exactly what is sounds like -- trying to gain access to administrator or other elevated privileges.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do you think would be involved in lateral movement? I’ll give you a hint. We’ve already done it. Here’s another hint. We need to gather information about our new location. Right! More discovery. The Discovery and Attack phases can continue to loop indefinitely, they can be short loops, or they can be limited to the amount of time you’ve been given to test a system. This type of activity is also involved in determining how to gain elevated privileges.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like to think of it as acting like you’ve just come out of a coma, have no idea where you are, who you are, or where you’re going. So, what types of linux commands can we run to gather this type of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what do you think you should do with this information? Right! Unless you’ve got an eidetic memory, you’re not going to remember all of this new information you’ve gathered. Write it down, take note, take a screenshot. Do something to help you preserve the information. Screenshots are great, because you can use them to not only refresh your memory about something you did, but it also serves as proof that you were able to accomplish a task. We always document our exploitation paths with pictures or videos.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8" name="Shape 138"/>
        <p:cNvGrpSpPr/>
        <p:nvPr/>
      </p:nvGrpSpPr>
      <p:grpSpPr>
        <a:xfrm>
          <a:off x="0" y="0"/>
          <a:ext cx="0" cy="0"/>
          <a:chOff x="0" y="0"/>
          <a:chExt cx="0" cy="0"/>
        </a:xfrm>
      </p:grpSpPr>
      <p:sp>
        <p:nvSpPr>
          <p:cNvPr id="139" name="Google Shape;139;g59d2f26df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59d2f26df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just a short list of possible commands you can run to gain situational awareness into the world in which you’ve regained consciousness, and they all boil down to the four things we need to figure out: Who am I? Where am i? What’s going on? What can I do? Once we figure out those things, we can figure out where we want to go, and what we want to steal, right? We can’t know where to go, if we don’t know where we are. In our lab we’re going to concentrate on cron jobs.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Cron jobs are nothing more that the Linux version of scheduled tasks. The can be configured by any user, but on most systems are locked down to only be configurable by, and run by,  privileged users -- like the root user. But what would happen if there was a cron job that was run by the root user, but editable by any user, or an unprivileged user? Right. The unprivileged user could modify the task, then the next time it was executed it would run as root. Let’s try that. .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Cron / netcat lab</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4" name="Shape 144"/>
        <p:cNvGrpSpPr/>
        <p:nvPr/>
      </p:nvGrpSpPr>
      <p:grpSpPr>
        <a:xfrm>
          <a:off x="0" y="0"/>
          <a:ext cx="0" cy="0"/>
          <a:chOff x="0" y="0"/>
          <a:chExt cx="0" cy="0"/>
        </a:xfrm>
      </p:grpSpPr>
      <p:sp>
        <p:nvSpPr>
          <p:cNvPr id="145" name="Google Shape;145;g59d2f26df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59d2f26df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Yay! It’s time for reporting! My favorite part (not really). But it is the most important part. Why?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Remember when we said penetration testing was a defensive job? Here’s where we prove that. All of the stuff we found, we’re going to tell the admins so they can fix it. And we’re going to help by giving them suggestions on how to fix it. Here’s another area where that expertise come into play. Not only do penetration testers have to figure out how to break things, they also have to help figure out how to fix things. So let’s run down what we found, and how to fix it...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4" name="Shape 154"/>
        <p:cNvGrpSpPr/>
        <p:nvPr/>
      </p:nvGrpSpPr>
      <p:grpSpPr>
        <a:xfrm>
          <a:off x="0" y="0"/>
          <a:ext cx="0" cy="0"/>
          <a:chOff x="0" y="0"/>
          <a:chExt cx="0" cy="0"/>
        </a:xfrm>
      </p:grpSpPr>
      <p:sp>
        <p:nvSpPr>
          <p:cNvPr id="155" name="Google Shape;155;g59d2f26df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59d2f26df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0" name="Shape 160"/>
        <p:cNvGrpSpPr/>
        <p:nvPr/>
      </p:nvGrpSpPr>
      <p:grpSpPr>
        <a:xfrm>
          <a:off x="0" y="0"/>
          <a:ext cx="0" cy="0"/>
          <a:chOff x="0" y="0"/>
          <a:chExt cx="0" cy="0"/>
        </a:xfrm>
      </p:grpSpPr>
      <p:sp>
        <p:nvSpPr>
          <p:cNvPr id="161" name="Google Shape;161;g59d2f26df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59d2f26df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6" name="Shape 166"/>
        <p:cNvGrpSpPr/>
        <p:nvPr/>
      </p:nvGrpSpPr>
      <p:grpSpPr>
        <a:xfrm>
          <a:off x="0" y="0"/>
          <a:ext cx="0" cy="0"/>
          <a:chOff x="0" y="0"/>
          <a:chExt cx="0" cy="0"/>
        </a:xfrm>
      </p:grpSpPr>
      <p:sp>
        <p:nvSpPr>
          <p:cNvPr id="167" name="Google Shape;167;g57464006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57464006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nvlpubs.nist.gov/nistpubs/Legacy/SP/nistspecialpublication800-115.pdf" TargetMode="External"/><Relationship Id="rId4" Type="http://schemas.openxmlformats.org/officeDocument/2006/relationships/hyperlink" Target="https://nmap.org/book/" TargetMode="External"/><Relationship Id="rId5" Type="http://schemas.openxmlformats.org/officeDocument/2006/relationships/hyperlink" Target="http://www.pentest-standard.org/index.php/Main_Page" TargetMode="External"/><Relationship Id="rId6" Type="http://schemas.openxmlformats.org/officeDocument/2006/relationships/hyperlink" Target="https://malicious.link/post/2017/open-source-pentesting/" TargetMode="External"/><Relationship Id="rId7" Type="http://schemas.openxmlformats.org/officeDocument/2006/relationships/hyperlink" Target="https://www.youtube.com/playlist?list=PLLKT__MCUeiwBa7d7F_vN1GUwz_2TmVQj"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Intro to Penetration Testing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sz="2400"/>
              <a:t>What is Penetration Testing</a:t>
            </a:r>
            <a:endParaRPr sz="2400"/>
          </a:p>
          <a:p>
            <a:pPr indent="-381000" lvl="0" marL="457200" rtl="0" algn="l">
              <a:spcBef>
                <a:spcPts val="0"/>
              </a:spcBef>
              <a:spcAft>
                <a:spcPts val="0"/>
              </a:spcAft>
              <a:buSzPts val="2400"/>
              <a:buChar char="●"/>
            </a:pPr>
            <a:r>
              <a:rPr lang="en" sz="2400"/>
              <a:t>Penetration Testing Phases</a:t>
            </a:r>
            <a:endParaRPr sz="2400"/>
          </a:p>
          <a:p>
            <a:pPr indent="-381000" lvl="0" marL="457200" rtl="0" algn="l">
              <a:spcBef>
                <a:spcPts val="0"/>
              </a:spcBef>
              <a:spcAft>
                <a:spcPts val="0"/>
              </a:spcAft>
              <a:buSzPts val="2400"/>
              <a:buChar char="●"/>
            </a:pPr>
            <a:r>
              <a:rPr lang="en" sz="2400"/>
              <a:t>Penetration Testing Activities (Handz On Hacking!!)</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Penetration Testing?</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NIST (WTH is NIST?!) SP-800-115</a:t>
            </a:r>
            <a:endParaRPr/>
          </a:p>
          <a:p>
            <a:pPr indent="-317500" lvl="1" marL="914400" rtl="0" algn="l">
              <a:spcBef>
                <a:spcPts val="0"/>
              </a:spcBef>
              <a:spcAft>
                <a:spcPts val="0"/>
              </a:spcAft>
              <a:buSzPts val="1400"/>
              <a:buChar char="○"/>
            </a:pPr>
            <a:r>
              <a:rPr lang="en"/>
              <a:t>Mimics REAL WORLD attacks to circumvent security features of</a:t>
            </a:r>
            <a:endParaRPr/>
          </a:p>
          <a:p>
            <a:pPr indent="-317500" lvl="2" marL="1371600" rtl="0" algn="l">
              <a:spcBef>
                <a:spcPts val="0"/>
              </a:spcBef>
              <a:spcAft>
                <a:spcPts val="0"/>
              </a:spcAft>
              <a:buSzPts val="1400"/>
              <a:buChar char="■"/>
            </a:pPr>
            <a:r>
              <a:rPr lang="en"/>
              <a:t>Applications</a:t>
            </a:r>
            <a:endParaRPr/>
          </a:p>
          <a:p>
            <a:pPr indent="-317500" lvl="2" marL="1371600" rtl="0" algn="l">
              <a:spcBef>
                <a:spcPts val="0"/>
              </a:spcBef>
              <a:spcAft>
                <a:spcPts val="0"/>
              </a:spcAft>
              <a:buSzPts val="1400"/>
              <a:buChar char="■"/>
            </a:pPr>
            <a:r>
              <a:rPr lang="en"/>
              <a:t>Systems</a:t>
            </a:r>
            <a:endParaRPr/>
          </a:p>
          <a:p>
            <a:pPr indent="-317500" lvl="2" marL="1371600" rtl="0" algn="l">
              <a:spcBef>
                <a:spcPts val="0"/>
              </a:spcBef>
              <a:spcAft>
                <a:spcPts val="0"/>
              </a:spcAft>
              <a:buSzPts val="1400"/>
              <a:buChar char="■"/>
            </a:pPr>
            <a:r>
              <a:rPr lang="en"/>
              <a:t>Networks</a:t>
            </a:r>
            <a:endParaRPr/>
          </a:p>
          <a:p>
            <a:pPr indent="-317500" lvl="1" marL="914400" rtl="0" algn="l">
              <a:spcBef>
                <a:spcPts val="0"/>
              </a:spcBef>
              <a:spcAft>
                <a:spcPts val="0"/>
              </a:spcAft>
              <a:buSzPts val="1400"/>
              <a:buChar char="○"/>
            </a:pPr>
            <a:r>
              <a:rPr lang="en"/>
              <a:t>Labor intensive, requires specialized skill</a:t>
            </a:r>
            <a:endParaRPr/>
          </a:p>
          <a:p>
            <a:pPr indent="-317500" lvl="2" marL="1371600" rtl="0" algn="l">
              <a:spcBef>
                <a:spcPts val="0"/>
              </a:spcBef>
              <a:spcAft>
                <a:spcPts val="0"/>
              </a:spcAft>
              <a:buSzPts val="1400"/>
              <a:buChar char="■"/>
            </a:pPr>
            <a:r>
              <a:rPr lang="en"/>
              <a:t>Why does it require so much training and expertise?</a:t>
            </a:r>
            <a:endParaRPr/>
          </a:p>
          <a:p>
            <a:pPr indent="-317500" lvl="1" marL="914400" rtl="0" algn="l">
              <a:spcBef>
                <a:spcPts val="0"/>
              </a:spcBef>
              <a:spcAft>
                <a:spcPts val="0"/>
              </a:spcAft>
              <a:buSzPts val="1400"/>
              <a:buChar char="○"/>
            </a:pPr>
            <a:r>
              <a:rPr lang="en"/>
              <a:t>Look for combinations of vulnerabilities (exploit chaining)</a:t>
            </a:r>
            <a:endParaRPr/>
          </a:p>
          <a:p>
            <a:pPr indent="-317500" lvl="1" marL="914400" rtl="0" algn="l">
              <a:spcBef>
                <a:spcPts val="0"/>
              </a:spcBef>
              <a:spcAft>
                <a:spcPts val="0"/>
              </a:spcAft>
              <a:buSzPts val="1400"/>
              <a:buChar char="○"/>
            </a:pPr>
            <a:r>
              <a:rPr lang="en"/>
              <a:t>Can be technical or non-technical</a:t>
            </a:r>
            <a:endParaRPr/>
          </a:p>
          <a:p>
            <a:pPr indent="-317500" lvl="2" marL="1371600" rtl="0" algn="l">
              <a:spcBef>
                <a:spcPts val="0"/>
              </a:spcBef>
              <a:spcAft>
                <a:spcPts val="0"/>
              </a:spcAft>
              <a:buSzPts val="1400"/>
              <a:buChar char="■"/>
            </a:pPr>
            <a:r>
              <a:rPr lang="en"/>
              <a:t>How can it be non-technical?</a:t>
            </a:r>
            <a:endParaRPr/>
          </a:p>
        </p:txBody>
      </p:sp>
      <p:sp>
        <p:nvSpPr>
          <p:cNvPr id="67" name="Google Shape;67;p15"/>
          <p:cNvSpPr txBox="1"/>
          <p:nvPr/>
        </p:nvSpPr>
        <p:spPr>
          <a:xfrm>
            <a:off x="366575" y="4568875"/>
            <a:ext cx="5539200" cy="4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Reference: https://nvlpubs.nist.gov/nistpubs/Legacy/SP/nistspecialpublication800-115.pdf</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Penetration Testing Phases</a:t>
            </a:r>
            <a:endParaRPr/>
          </a:p>
        </p:txBody>
      </p:sp>
      <p:sp>
        <p:nvSpPr>
          <p:cNvPr id="73" name="Google Shape;73;p16"/>
          <p:cNvSpPr/>
          <p:nvPr/>
        </p:nvSpPr>
        <p:spPr>
          <a:xfrm>
            <a:off x="941050" y="1954725"/>
            <a:ext cx="1766400" cy="1018200"/>
          </a:xfrm>
          <a:prstGeom prst="homePlate">
            <a:avLst>
              <a:gd fmla="val 50000" name="adj"/>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Planning</a:t>
            </a:r>
            <a:endParaRPr/>
          </a:p>
        </p:txBody>
      </p:sp>
      <p:sp>
        <p:nvSpPr>
          <p:cNvPr id="74" name="Google Shape;74;p16"/>
          <p:cNvSpPr/>
          <p:nvPr/>
        </p:nvSpPr>
        <p:spPr>
          <a:xfrm>
            <a:off x="2377150" y="1934325"/>
            <a:ext cx="2158800" cy="10590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Discovery</a:t>
            </a:r>
            <a:endParaRPr/>
          </a:p>
        </p:txBody>
      </p:sp>
      <p:sp>
        <p:nvSpPr>
          <p:cNvPr id="75" name="Google Shape;75;p16"/>
          <p:cNvSpPr/>
          <p:nvPr/>
        </p:nvSpPr>
        <p:spPr>
          <a:xfrm>
            <a:off x="4205950" y="1934325"/>
            <a:ext cx="2158800" cy="10590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Attack!</a:t>
            </a:r>
            <a:endParaRPr/>
          </a:p>
        </p:txBody>
      </p:sp>
      <p:sp>
        <p:nvSpPr>
          <p:cNvPr id="76" name="Google Shape;76;p16"/>
          <p:cNvSpPr/>
          <p:nvPr/>
        </p:nvSpPr>
        <p:spPr>
          <a:xfrm>
            <a:off x="6034750" y="1934325"/>
            <a:ext cx="2158800" cy="10590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Reporting</a:t>
            </a:r>
            <a:endParaRPr/>
          </a:p>
        </p:txBody>
      </p:sp>
      <p:sp>
        <p:nvSpPr>
          <p:cNvPr id="77" name="Google Shape;77;p16"/>
          <p:cNvSpPr txBox="1"/>
          <p:nvPr/>
        </p:nvSpPr>
        <p:spPr>
          <a:xfrm>
            <a:off x="941050" y="2993325"/>
            <a:ext cx="5539200" cy="4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https://nvlpubs.nist.gov/nistpubs/Legacy/SP/nistspecialpublication800-115.pdf</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Penetration Testing Phases</a:t>
            </a:r>
            <a:endParaRPr/>
          </a:p>
        </p:txBody>
      </p:sp>
      <p:sp>
        <p:nvSpPr>
          <p:cNvPr id="83" name="Google Shape;83;p17"/>
          <p:cNvSpPr/>
          <p:nvPr/>
        </p:nvSpPr>
        <p:spPr>
          <a:xfrm>
            <a:off x="941050" y="1954725"/>
            <a:ext cx="1766400" cy="1018200"/>
          </a:xfrm>
          <a:prstGeom prst="homePlate">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Planning</a:t>
            </a:r>
            <a:endParaRPr/>
          </a:p>
        </p:txBody>
      </p:sp>
      <p:sp>
        <p:nvSpPr>
          <p:cNvPr id="84" name="Google Shape;84;p17"/>
          <p:cNvSpPr/>
          <p:nvPr/>
        </p:nvSpPr>
        <p:spPr>
          <a:xfrm>
            <a:off x="2377150" y="1934325"/>
            <a:ext cx="2158800" cy="1059000"/>
          </a:xfrm>
          <a:prstGeom prst="chevron">
            <a:avLst>
              <a:gd fmla="val 50000" name="adj"/>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Discovery</a:t>
            </a:r>
            <a:endParaRPr/>
          </a:p>
        </p:txBody>
      </p:sp>
      <p:sp>
        <p:nvSpPr>
          <p:cNvPr id="85" name="Google Shape;85;p17"/>
          <p:cNvSpPr/>
          <p:nvPr/>
        </p:nvSpPr>
        <p:spPr>
          <a:xfrm>
            <a:off x="4205950" y="1934325"/>
            <a:ext cx="2158800" cy="10590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Attack!</a:t>
            </a:r>
            <a:endParaRPr/>
          </a:p>
        </p:txBody>
      </p:sp>
      <p:sp>
        <p:nvSpPr>
          <p:cNvPr id="86" name="Google Shape;86;p17"/>
          <p:cNvSpPr/>
          <p:nvPr/>
        </p:nvSpPr>
        <p:spPr>
          <a:xfrm>
            <a:off x="6034750" y="1934325"/>
            <a:ext cx="2158800" cy="10590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Reporting</a:t>
            </a:r>
            <a:endParaRPr/>
          </a:p>
        </p:txBody>
      </p:sp>
      <p:sp>
        <p:nvSpPr>
          <p:cNvPr id="87" name="Google Shape;87;p17"/>
          <p:cNvSpPr txBox="1"/>
          <p:nvPr/>
        </p:nvSpPr>
        <p:spPr>
          <a:xfrm>
            <a:off x="941050" y="2993325"/>
            <a:ext cx="5539200" cy="4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https://nvlpubs.nist.gov/nistpubs/Legacy/SP/nistspecialpublication800-115.pdf</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Penetration Testing Phases</a:t>
            </a:r>
            <a:endParaRPr/>
          </a:p>
        </p:txBody>
      </p:sp>
      <p:sp>
        <p:nvSpPr>
          <p:cNvPr id="93" name="Google Shape;93;p18"/>
          <p:cNvSpPr/>
          <p:nvPr/>
        </p:nvSpPr>
        <p:spPr>
          <a:xfrm>
            <a:off x="941050" y="1954725"/>
            <a:ext cx="1766400" cy="1018200"/>
          </a:xfrm>
          <a:prstGeom prst="homePlate">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Planning</a:t>
            </a:r>
            <a:endParaRPr/>
          </a:p>
        </p:txBody>
      </p:sp>
      <p:sp>
        <p:nvSpPr>
          <p:cNvPr id="94" name="Google Shape;94;p18"/>
          <p:cNvSpPr/>
          <p:nvPr/>
        </p:nvSpPr>
        <p:spPr>
          <a:xfrm>
            <a:off x="2377150" y="1934325"/>
            <a:ext cx="2158800" cy="1059000"/>
          </a:xfrm>
          <a:prstGeom prst="chevron">
            <a:avLst>
              <a:gd fmla="val 50000" name="adj"/>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Discovery</a:t>
            </a:r>
            <a:endParaRPr/>
          </a:p>
        </p:txBody>
      </p:sp>
      <p:sp>
        <p:nvSpPr>
          <p:cNvPr id="95" name="Google Shape;95;p18"/>
          <p:cNvSpPr/>
          <p:nvPr/>
        </p:nvSpPr>
        <p:spPr>
          <a:xfrm>
            <a:off x="4205950" y="1934325"/>
            <a:ext cx="2158800" cy="10590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Attack!</a:t>
            </a:r>
            <a:endParaRPr/>
          </a:p>
        </p:txBody>
      </p:sp>
      <p:sp>
        <p:nvSpPr>
          <p:cNvPr id="96" name="Google Shape;96;p18"/>
          <p:cNvSpPr/>
          <p:nvPr/>
        </p:nvSpPr>
        <p:spPr>
          <a:xfrm>
            <a:off x="6034750" y="1934325"/>
            <a:ext cx="2158800" cy="10590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Reporting</a:t>
            </a:r>
            <a:endParaRPr/>
          </a:p>
        </p:txBody>
      </p:sp>
      <p:sp>
        <p:nvSpPr>
          <p:cNvPr id="97" name="Google Shape;97;p18"/>
          <p:cNvSpPr txBox="1"/>
          <p:nvPr/>
        </p:nvSpPr>
        <p:spPr>
          <a:xfrm>
            <a:off x="941050" y="2993325"/>
            <a:ext cx="5539200" cy="4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https://nvlpubs.nist.gov/nistpubs/Legacy/SP/nistspecialpublication800-115.pdf</a:t>
            </a:r>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Penetration Testing Phases</a:t>
            </a:r>
            <a:endParaRPr/>
          </a:p>
        </p:txBody>
      </p:sp>
      <p:sp>
        <p:nvSpPr>
          <p:cNvPr id="103" name="Google Shape;103;p19"/>
          <p:cNvSpPr/>
          <p:nvPr/>
        </p:nvSpPr>
        <p:spPr>
          <a:xfrm>
            <a:off x="941050" y="1954725"/>
            <a:ext cx="1766400" cy="1018200"/>
          </a:xfrm>
          <a:prstGeom prst="homePlate">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Planning</a:t>
            </a:r>
            <a:endParaRPr/>
          </a:p>
        </p:txBody>
      </p:sp>
      <p:sp>
        <p:nvSpPr>
          <p:cNvPr id="104" name="Google Shape;104;p19"/>
          <p:cNvSpPr/>
          <p:nvPr/>
        </p:nvSpPr>
        <p:spPr>
          <a:xfrm>
            <a:off x="2377150" y="1934325"/>
            <a:ext cx="2158800" cy="1059000"/>
          </a:xfrm>
          <a:prstGeom prst="chevron">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Discovery</a:t>
            </a:r>
            <a:endParaRPr/>
          </a:p>
        </p:txBody>
      </p:sp>
      <p:sp>
        <p:nvSpPr>
          <p:cNvPr id="105" name="Google Shape;105;p19"/>
          <p:cNvSpPr/>
          <p:nvPr/>
        </p:nvSpPr>
        <p:spPr>
          <a:xfrm>
            <a:off x="4205950" y="1934325"/>
            <a:ext cx="2158800" cy="1059000"/>
          </a:xfrm>
          <a:prstGeom prst="chevron">
            <a:avLst>
              <a:gd fmla="val 50000" name="adj"/>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Attack!</a:t>
            </a:r>
            <a:endParaRPr/>
          </a:p>
        </p:txBody>
      </p:sp>
      <p:sp>
        <p:nvSpPr>
          <p:cNvPr id="106" name="Google Shape;106;p19"/>
          <p:cNvSpPr/>
          <p:nvPr/>
        </p:nvSpPr>
        <p:spPr>
          <a:xfrm>
            <a:off x="6034750" y="1934325"/>
            <a:ext cx="2158800" cy="10590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Reporting</a:t>
            </a:r>
            <a:endParaRPr/>
          </a:p>
        </p:txBody>
      </p:sp>
      <p:sp>
        <p:nvSpPr>
          <p:cNvPr id="107" name="Google Shape;107;p19"/>
          <p:cNvSpPr txBox="1"/>
          <p:nvPr/>
        </p:nvSpPr>
        <p:spPr>
          <a:xfrm>
            <a:off x="941050" y="2993325"/>
            <a:ext cx="5539200" cy="4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https://nvlpubs.nist.gov/nistpubs/Legacy/SP/nistspecialpublication800-115.pdf</a:t>
            </a: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Penetration Testing Phases</a:t>
            </a:r>
            <a:endParaRPr/>
          </a:p>
        </p:txBody>
      </p:sp>
      <p:sp>
        <p:nvSpPr>
          <p:cNvPr id="113" name="Google Shape;113;p20"/>
          <p:cNvSpPr/>
          <p:nvPr/>
        </p:nvSpPr>
        <p:spPr>
          <a:xfrm>
            <a:off x="941050" y="1954725"/>
            <a:ext cx="1766400" cy="1018200"/>
          </a:xfrm>
          <a:prstGeom prst="homePlate">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Planning</a:t>
            </a:r>
            <a:endParaRPr/>
          </a:p>
        </p:txBody>
      </p:sp>
      <p:sp>
        <p:nvSpPr>
          <p:cNvPr id="114" name="Google Shape;114;p20"/>
          <p:cNvSpPr/>
          <p:nvPr/>
        </p:nvSpPr>
        <p:spPr>
          <a:xfrm>
            <a:off x="2377150" y="1934325"/>
            <a:ext cx="2158800" cy="1059000"/>
          </a:xfrm>
          <a:prstGeom prst="chevron">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Discovery</a:t>
            </a:r>
            <a:endParaRPr/>
          </a:p>
        </p:txBody>
      </p:sp>
      <p:sp>
        <p:nvSpPr>
          <p:cNvPr id="115" name="Google Shape;115;p20"/>
          <p:cNvSpPr/>
          <p:nvPr/>
        </p:nvSpPr>
        <p:spPr>
          <a:xfrm>
            <a:off x="4205950" y="1934325"/>
            <a:ext cx="2158800" cy="1059000"/>
          </a:xfrm>
          <a:prstGeom prst="chevron">
            <a:avLst>
              <a:gd fmla="val 50000" name="adj"/>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Attack!</a:t>
            </a:r>
            <a:endParaRPr/>
          </a:p>
        </p:txBody>
      </p:sp>
      <p:sp>
        <p:nvSpPr>
          <p:cNvPr id="116" name="Google Shape;116;p20"/>
          <p:cNvSpPr/>
          <p:nvPr/>
        </p:nvSpPr>
        <p:spPr>
          <a:xfrm>
            <a:off x="6034750" y="1934325"/>
            <a:ext cx="2158800" cy="10590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Reporting</a:t>
            </a:r>
            <a:endParaRPr/>
          </a:p>
        </p:txBody>
      </p:sp>
      <p:sp>
        <p:nvSpPr>
          <p:cNvPr id="117" name="Google Shape;117;p20"/>
          <p:cNvSpPr txBox="1"/>
          <p:nvPr/>
        </p:nvSpPr>
        <p:spPr>
          <a:xfrm>
            <a:off x="941050" y="2993325"/>
            <a:ext cx="5539200" cy="4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https://nvlpubs.nist.gov/nistpubs/Legacy/SP/nistspecialpublication800-115.pdf</a:t>
            </a:r>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Penetration Testing Phases</a:t>
            </a:r>
            <a:endParaRPr/>
          </a:p>
        </p:txBody>
      </p:sp>
      <p:sp>
        <p:nvSpPr>
          <p:cNvPr id="123" name="Google Shape;123;p21"/>
          <p:cNvSpPr/>
          <p:nvPr/>
        </p:nvSpPr>
        <p:spPr>
          <a:xfrm>
            <a:off x="941050" y="1954725"/>
            <a:ext cx="1766400" cy="1018200"/>
          </a:xfrm>
          <a:prstGeom prst="homePlate">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Planning</a:t>
            </a:r>
            <a:endParaRPr/>
          </a:p>
        </p:txBody>
      </p:sp>
      <p:sp>
        <p:nvSpPr>
          <p:cNvPr id="124" name="Google Shape;124;p21"/>
          <p:cNvSpPr/>
          <p:nvPr/>
        </p:nvSpPr>
        <p:spPr>
          <a:xfrm>
            <a:off x="2377150" y="1934325"/>
            <a:ext cx="2158800" cy="1059000"/>
          </a:xfrm>
          <a:prstGeom prst="chevron">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Discovery</a:t>
            </a:r>
            <a:endParaRPr/>
          </a:p>
        </p:txBody>
      </p:sp>
      <p:sp>
        <p:nvSpPr>
          <p:cNvPr id="125" name="Google Shape;125;p21"/>
          <p:cNvSpPr/>
          <p:nvPr/>
        </p:nvSpPr>
        <p:spPr>
          <a:xfrm>
            <a:off x="4205950" y="1934325"/>
            <a:ext cx="2158800" cy="1059000"/>
          </a:xfrm>
          <a:prstGeom prst="chevron">
            <a:avLst>
              <a:gd fmla="val 50000" name="adj"/>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Attack!</a:t>
            </a:r>
            <a:endParaRPr/>
          </a:p>
        </p:txBody>
      </p:sp>
      <p:sp>
        <p:nvSpPr>
          <p:cNvPr id="126" name="Google Shape;126;p21"/>
          <p:cNvSpPr/>
          <p:nvPr/>
        </p:nvSpPr>
        <p:spPr>
          <a:xfrm>
            <a:off x="6034750" y="1934325"/>
            <a:ext cx="2158800" cy="1059000"/>
          </a:xfrm>
          <a:prstGeom prst="chevr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Reporting</a:t>
            </a:r>
            <a:endParaRPr/>
          </a:p>
        </p:txBody>
      </p:sp>
      <p:sp>
        <p:nvSpPr>
          <p:cNvPr id="127" name="Google Shape;127;p21"/>
          <p:cNvSpPr txBox="1"/>
          <p:nvPr/>
        </p:nvSpPr>
        <p:spPr>
          <a:xfrm>
            <a:off x="941050" y="2993325"/>
            <a:ext cx="5539200" cy="4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https://nvlpubs.nist.gov/nistpubs/Legacy/SP/nistspecialpublication800-115.pdf</a:t>
            </a:r>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Penetration Testing Phases</a:t>
            </a:r>
            <a:endParaRPr/>
          </a:p>
        </p:txBody>
      </p:sp>
      <p:sp>
        <p:nvSpPr>
          <p:cNvPr id="133" name="Google Shape;133;p22"/>
          <p:cNvSpPr/>
          <p:nvPr/>
        </p:nvSpPr>
        <p:spPr>
          <a:xfrm>
            <a:off x="941050" y="1954725"/>
            <a:ext cx="1766400" cy="1018200"/>
          </a:xfrm>
          <a:prstGeom prst="homePlate">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Planning</a:t>
            </a:r>
            <a:endParaRPr/>
          </a:p>
        </p:txBody>
      </p:sp>
      <p:sp>
        <p:nvSpPr>
          <p:cNvPr id="134" name="Google Shape;134;p22"/>
          <p:cNvSpPr/>
          <p:nvPr/>
        </p:nvSpPr>
        <p:spPr>
          <a:xfrm>
            <a:off x="2377150" y="1934325"/>
            <a:ext cx="2158800" cy="1059000"/>
          </a:xfrm>
          <a:prstGeom prst="chevron">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Discovery</a:t>
            </a:r>
            <a:endParaRPr/>
          </a:p>
        </p:txBody>
      </p:sp>
      <p:sp>
        <p:nvSpPr>
          <p:cNvPr id="135" name="Google Shape;135;p22"/>
          <p:cNvSpPr/>
          <p:nvPr/>
        </p:nvSpPr>
        <p:spPr>
          <a:xfrm>
            <a:off x="4205950" y="1934325"/>
            <a:ext cx="2158800" cy="1059000"/>
          </a:xfrm>
          <a:prstGeom prst="chevron">
            <a:avLst>
              <a:gd fmla="val 50000" name="adj"/>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Attack!</a:t>
            </a:r>
            <a:endParaRPr/>
          </a:p>
        </p:txBody>
      </p:sp>
      <p:sp>
        <p:nvSpPr>
          <p:cNvPr id="136" name="Google Shape;136;p22"/>
          <p:cNvSpPr/>
          <p:nvPr/>
        </p:nvSpPr>
        <p:spPr>
          <a:xfrm>
            <a:off x="6034750" y="1934325"/>
            <a:ext cx="2158800" cy="1059000"/>
          </a:xfrm>
          <a:prstGeom prst="chevron">
            <a:avLst>
              <a:gd fmla="val 50000" name="adj"/>
            </a:avLst>
          </a:prstGeom>
          <a:solidFill>
            <a:srgbClr val="F3F3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Reporting</a:t>
            </a:r>
            <a:endParaRPr/>
          </a:p>
        </p:txBody>
      </p:sp>
      <p:sp>
        <p:nvSpPr>
          <p:cNvPr id="137" name="Google Shape;137;p22"/>
          <p:cNvSpPr txBox="1"/>
          <p:nvPr/>
        </p:nvSpPr>
        <p:spPr>
          <a:xfrm>
            <a:off x="941050" y="2993325"/>
            <a:ext cx="5539200" cy="4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https://nvlpubs.nist.gov/nistpubs/Legacy/SP/nistspecialpublication800-115.pdf</a:t>
            </a:r>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Regaining Consciousness</a:t>
            </a:r>
            <a:endParaRPr/>
          </a:p>
        </p:txBody>
      </p:sp>
      <p:sp>
        <p:nvSpPr>
          <p:cNvPr id="143" name="Google Shape;143;p23"/>
          <p:cNvSpPr txBox="1"/>
          <p:nvPr>
            <p:ph idx="1" type="body"/>
          </p:nvPr>
        </p:nvSpPr>
        <p:spPr>
          <a:xfrm>
            <a:off x="311700" y="1152475"/>
            <a:ext cx="8520600" cy="3828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Whoami</a:t>
            </a:r>
            <a:endParaRPr/>
          </a:p>
          <a:p>
            <a:pPr indent="-317500" lvl="1" marL="914400" rtl="0" algn="l">
              <a:spcBef>
                <a:spcPts val="0"/>
              </a:spcBef>
              <a:spcAft>
                <a:spcPts val="0"/>
              </a:spcAft>
              <a:buSzPts val="1400"/>
              <a:buChar char="○"/>
            </a:pPr>
            <a:r>
              <a:rPr lang="en"/>
              <a:t>Literally, whoami</a:t>
            </a:r>
            <a:endParaRPr/>
          </a:p>
          <a:p>
            <a:pPr indent="-317500" lvl="1" marL="914400" rtl="0" algn="l">
              <a:spcBef>
                <a:spcPts val="0"/>
              </a:spcBef>
              <a:spcAft>
                <a:spcPts val="0"/>
              </a:spcAft>
              <a:buSzPts val="1400"/>
              <a:buChar char="○"/>
            </a:pPr>
            <a:r>
              <a:rPr lang="en"/>
              <a:t>id -a</a:t>
            </a:r>
            <a:endParaRPr/>
          </a:p>
          <a:p>
            <a:pPr indent="-317500" lvl="1" marL="914400" rtl="0" algn="l">
              <a:spcBef>
                <a:spcPts val="0"/>
              </a:spcBef>
              <a:spcAft>
                <a:spcPts val="0"/>
              </a:spcAft>
              <a:buSzPts val="1400"/>
              <a:buChar char="○"/>
            </a:pPr>
            <a:r>
              <a:rPr lang="en"/>
              <a:t>c</a:t>
            </a:r>
            <a:r>
              <a:rPr lang="en"/>
              <a:t>at /etc/passwd</a:t>
            </a:r>
            <a:endParaRPr/>
          </a:p>
          <a:p>
            <a:pPr indent="-342900" lvl="0" marL="457200" rtl="0" algn="l">
              <a:spcBef>
                <a:spcPts val="0"/>
              </a:spcBef>
              <a:spcAft>
                <a:spcPts val="0"/>
              </a:spcAft>
              <a:buSzPts val="1800"/>
              <a:buChar char="●"/>
            </a:pPr>
            <a:r>
              <a:rPr lang="en"/>
              <a:t>Where am I</a:t>
            </a:r>
            <a:endParaRPr/>
          </a:p>
          <a:p>
            <a:pPr indent="-317500" lvl="1" marL="914400" rtl="0" algn="l">
              <a:spcBef>
                <a:spcPts val="0"/>
              </a:spcBef>
              <a:spcAft>
                <a:spcPts val="0"/>
              </a:spcAft>
              <a:buSzPts val="1400"/>
              <a:buChar char="○"/>
            </a:pPr>
            <a:r>
              <a:rPr lang="en"/>
              <a:t>p</a:t>
            </a:r>
            <a:r>
              <a:rPr lang="en"/>
              <a:t>wd</a:t>
            </a:r>
            <a:endParaRPr/>
          </a:p>
          <a:p>
            <a:pPr indent="-317500" lvl="1" marL="914400" rtl="0" algn="l">
              <a:spcBef>
                <a:spcPts val="0"/>
              </a:spcBef>
              <a:spcAft>
                <a:spcPts val="0"/>
              </a:spcAft>
              <a:buSzPts val="1400"/>
              <a:buChar char="○"/>
            </a:pPr>
            <a:r>
              <a:rPr lang="en"/>
              <a:t>m</a:t>
            </a:r>
            <a:r>
              <a:rPr lang="en"/>
              <a:t>ount</a:t>
            </a:r>
            <a:endParaRPr/>
          </a:p>
          <a:p>
            <a:pPr indent="-317500" lvl="1" marL="914400" rtl="0" algn="l">
              <a:spcBef>
                <a:spcPts val="0"/>
              </a:spcBef>
              <a:spcAft>
                <a:spcPts val="0"/>
              </a:spcAft>
              <a:buSzPts val="1400"/>
              <a:buChar char="○"/>
            </a:pPr>
            <a:r>
              <a:rPr lang="en"/>
              <a:t>l</a:t>
            </a:r>
            <a:r>
              <a:rPr lang="en"/>
              <a:t>s -latr</a:t>
            </a:r>
            <a:endParaRPr/>
          </a:p>
          <a:p>
            <a:pPr indent="-317500" lvl="1" marL="914400" rtl="0" algn="l">
              <a:spcBef>
                <a:spcPts val="0"/>
              </a:spcBef>
              <a:spcAft>
                <a:spcPts val="0"/>
              </a:spcAft>
              <a:buSzPts val="1400"/>
              <a:buChar char="○"/>
            </a:pPr>
            <a:r>
              <a:rPr lang="en"/>
              <a:t>l</a:t>
            </a:r>
            <a:r>
              <a:rPr lang="en"/>
              <a:t>s &lt;homedirs&gt;</a:t>
            </a:r>
            <a:endParaRPr/>
          </a:p>
          <a:p>
            <a:pPr indent="-342900" lvl="0" marL="457200" rtl="0" algn="l">
              <a:spcBef>
                <a:spcPts val="0"/>
              </a:spcBef>
              <a:spcAft>
                <a:spcPts val="0"/>
              </a:spcAft>
              <a:buSzPts val="1800"/>
              <a:buChar char="●"/>
            </a:pPr>
            <a:r>
              <a:rPr lang="en"/>
              <a:t>What’s going on</a:t>
            </a:r>
            <a:endParaRPr/>
          </a:p>
          <a:p>
            <a:pPr indent="-317500" lvl="1" marL="914400" rtl="0" algn="l">
              <a:spcBef>
                <a:spcPts val="0"/>
              </a:spcBef>
              <a:spcAft>
                <a:spcPts val="0"/>
              </a:spcAft>
              <a:buSzPts val="1400"/>
              <a:buChar char="○"/>
            </a:pPr>
            <a:r>
              <a:rPr lang="en"/>
              <a:t>p</a:t>
            </a:r>
            <a:r>
              <a:rPr lang="en"/>
              <a:t>s -ef / ps aux / ps faux</a:t>
            </a:r>
            <a:endParaRPr/>
          </a:p>
          <a:p>
            <a:pPr indent="-317500" lvl="1" marL="914400" rtl="0" algn="l">
              <a:spcBef>
                <a:spcPts val="0"/>
              </a:spcBef>
              <a:spcAft>
                <a:spcPts val="0"/>
              </a:spcAft>
              <a:buSzPts val="1400"/>
              <a:buChar char="○"/>
            </a:pPr>
            <a:r>
              <a:rPr lang="en"/>
              <a:t>Crontabs (Scheduled Tasks)</a:t>
            </a:r>
            <a:endParaRPr/>
          </a:p>
          <a:p>
            <a:pPr indent="-317500" lvl="1" marL="914400" rtl="0" algn="l">
              <a:spcBef>
                <a:spcPts val="0"/>
              </a:spcBef>
              <a:spcAft>
                <a:spcPts val="0"/>
              </a:spcAft>
              <a:buSzPts val="1400"/>
              <a:buChar char="○"/>
            </a:pPr>
            <a:r>
              <a:rPr lang="en"/>
              <a:t>n</a:t>
            </a:r>
            <a:r>
              <a:rPr lang="en"/>
              <a:t>etstat -plnt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7" name="Shape 147"/>
        <p:cNvGrpSpPr/>
        <p:nvPr/>
      </p:nvGrpSpPr>
      <p:grpSpPr>
        <a:xfrm>
          <a:off x="0" y="0"/>
          <a:ext cx="0" cy="0"/>
          <a:chOff x="0" y="0"/>
          <a:chExt cx="0" cy="0"/>
        </a:xfrm>
      </p:grpSpPr>
      <p:sp>
        <p:nvSpPr>
          <p:cNvPr id="148" name="Google Shape;148;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Penetration Testing Phases</a:t>
            </a:r>
            <a:endParaRPr/>
          </a:p>
        </p:txBody>
      </p:sp>
      <p:sp>
        <p:nvSpPr>
          <p:cNvPr id="149" name="Google Shape;149;p24"/>
          <p:cNvSpPr/>
          <p:nvPr/>
        </p:nvSpPr>
        <p:spPr>
          <a:xfrm>
            <a:off x="941050" y="1954725"/>
            <a:ext cx="1766400" cy="1018200"/>
          </a:xfrm>
          <a:prstGeom prst="homePlate">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Planning</a:t>
            </a:r>
            <a:endParaRPr/>
          </a:p>
        </p:txBody>
      </p:sp>
      <p:sp>
        <p:nvSpPr>
          <p:cNvPr id="150" name="Google Shape;150;p24"/>
          <p:cNvSpPr/>
          <p:nvPr/>
        </p:nvSpPr>
        <p:spPr>
          <a:xfrm>
            <a:off x="2377150" y="1934325"/>
            <a:ext cx="2158800" cy="1059000"/>
          </a:xfrm>
          <a:prstGeom prst="chevron">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Discovery</a:t>
            </a:r>
            <a:endParaRPr/>
          </a:p>
        </p:txBody>
      </p:sp>
      <p:sp>
        <p:nvSpPr>
          <p:cNvPr id="151" name="Google Shape;151;p24"/>
          <p:cNvSpPr/>
          <p:nvPr/>
        </p:nvSpPr>
        <p:spPr>
          <a:xfrm>
            <a:off x="4205950" y="1934325"/>
            <a:ext cx="2158800" cy="1059000"/>
          </a:xfrm>
          <a:prstGeom prst="chevron">
            <a:avLst>
              <a:gd fmla="val 5000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Attack!</a:t>
            </a:r>
            <a:endParaRPr/>
          </a:p>
        </p:txBody>
      </p:sp>
      <p:sp>
        <p:nvSpPr>
          <p:cNvPr id="152" name="Google Shape;152;p24"/>
          <p:cNvSpPr/>
          <p:nvPr/>
        </p:nvSpPr>
        <p:spPr>
          <a:xfrm>
            <a:off x="6034750" y="1934325"/>
            <a:ext cx="2158800" cy="1059000"/>
          </a:xfrm>
          <a:prstGeom prst="chevron">
            <a:avLst>
              <a:gd fmla="val 50000" name="adj"/>
            </a:avLst>
          </a:prstGeom>
          <a:solidFill>
            <a:srgbClr val="F6B2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Reporting</a:t>
            </a:r>
            <a:endParaRPr/>
          </a:p>
        </p:txBody>
      </p:sp>
      <p:sp>
        <p:nvSpPr>
          <p:cNvPr id="153" name="Google Shape;153;p24"/>
          <p:cNvSpPr txBox="1"/>
          <p:nvPr/>
        </p:nvSpPr>
        <p:spPr>
          <a:xfrm>
            <a:off x="941050" y="2993325"/>
            <a:ext cx="5539200" cy="4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https://nvlpubs.nist.gov/nistpubs/Legacy/SP/nistspecialpublication800-115.pdf</a:t>
            </a:r>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Report</a:t>
            </a:r>
            <a:endParaRPr/>
          </a:p>
        </p:txBody>
      </p:sp>
      <p:sp>
        <p:nvSpPr>
          <p:cNvPr id="159" name="Google Shape;159;p25"/>
          <p:cNvSpPr txBox="1"/>
          <p:nvPr>
            <p:ph idx="1" type="body"/>
          </p:nvPr>
        </p:nvSpPr>
        <p:spPr>
          <a:xfrm>
            <a:off x="311700" y="1152475"/>
            <a:ext cx="8520600" cy="3777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Open ports</a:t>
            </a:r>
            <a:endParaRPr sz="1400"/>
          </a:p>
          <a:p>
            <a:pPr indent="-317500" lvl="1" marL="914400" rtl="0" algn="l">
              <a:spcBef>
                <a:spcPts val="0"/>
              </a:spcBef>
              <a:spcAft>
                <a:spcPts val="0"/>
              </a:spcAft>
              <a:buSzPts val="1400"/>
              <a:buChar char="○"/>
            </a:pPr>
            <a:r>
              <a:t/>
            </a:r>
            <a:endParaRPr/>
          </a:p>
          <a:p>
            <a:pPr indent="-317500" lvl="0" marL="457200" rtl="0" algn="l">
              <a:spcBef>
                <a:spcPts val="0"/>
              </a:spcBef>
              <a:spcAft>
                <a:spcPts val="0"/>
              </a:spcAft>
              <a:buSzPts val="1400"/>
              <a:buChar char="●"/>
            </a:pPr>
            <a:r>
              <a:rPr lang="en" sz="1400"/>
              <a:t>FTP</a:t>
            </a:r>
            <a:endParaRPr sz="1400"/>
          </a:p>
          <a:p>
            <a:pPr indent="-317500" lvl="1" marL="914400" rtl="0" algn="l">
              <a:spcBef>
                <a:spcPts val="0"/>
              </a:spcBef>
              <a:spcAft>
                <a:spcPts val="0"/>
              </a:spcAft>
              <a:buSzPts val="1400"/>
              <a:buChar char="○"/>
            </a:pPr>
            <a:r>
              <a:t/>
            </a:r>
            <a:endParaRPr/>
          </a:p>
          <a:p>
            <a:pPr indent="-317500" lvl="0" marL="457200" rtl="0" algn="l">
              <a:spcBef>
                <a:spcPts val="0"/>
              </a:spcBef>
              <a:spcAft>
                <a:spcPts val="0"/>
              </a:spcAft>
              <a:buSzPts val="1400"/>
              <a:buChar char="●"/>
            </a:pPr>
            <a:r>
              <a:rPr lang="en" sz="1400"/>
              <a:t>Backup files</a:t>
            </a:r>
            <a:endParaRPr sz="1400"/>
          </a:p>
          <a:p>
            <a:pPr indent="-317500" lvl="1" marL="914400" rtl="0" algn="l">
              <a:spcBef>
                <a:spcPts val="0"/>
              </a:spcBef>
              <a:spcAft>
                <a:spcPts val="0"/>
              </a:spcAft>
              <a:buSzPts val="1400"/>
              <a:buChar char="○"/>
            </a:pPr>
            <a:r>
              <a:t/>
            </a:r>
            <a:endParaRPr/>
          </a:p>
          <a:p>
            <a:pPr indent="-317500" lvl="1" marL="914400" rtl="0" algn="l">
              <a:spcBef>
                <a:spcPts val="0"/>
              </a:spcBef>
              <a:spcAft>
                <a:spcPts val="0"/>
              </a:spcAft>
              <a:buSzPts val="1400"/>
              <a:buChar char="○"/>
            </a:pPr>
            <a:r>
              <a:t/>
            </a:r>
            <a:endParaRPr/>
          </a:p>
          <a:p>
            <a:pPr indent="-317500" lvl="0" marL="457200" rtl="0" algn="l">
              <a:spcBef>
                <a:spcPts val="0"/>
              </a:spcBef>
              <a:spcAft>
                <a:spcPts val="0"/>
              </a:spcAft>
              <a:buSzPts val="1400"/>
              <a:buChar char="●"/>
            </a:pPr>
            <a:r>
              <a:rPr lang="en" sz="1400"/>
              <a:t>Password Reuse</a:t>
            </a:r>
            <a:endParaRPr sz="1400"/>
          </a:p>
          <a:p>
            <a:pPr indent="-317500" lvl="1" marL="914400" rtl="0" algn="l">
              <a:spcBef>
                <a:spcPts val="0"/>
              </a:spcBef>
              <a:spcAft>
                <a:spcPts val="0"/>
              </a:spcAft>
              <a:buSzPts val="1400"/>
              <a:buChar char="○"/>
            </a:pPr>
            <a:r>
              <a:t/>
            </a:r>
            <a:endParaRPr/>
          </a:p>
          <a:p>
            <a:pPr indent="-317500" lvl="0" marL="457200" rtl="0" algn="l">
              <a:spcBef>
                <a:spcPts val="0"/>
              </a:spcBef>
              <a:spcAft>
                <a:spcPts val="0"/>
              </a:spcAft>
              <a:buSzPts val="1400"/>
              <a:buChar char="●"/>
            </a:pPr>
            <a:r>
              <a:rPr lang="en" sz="1400"/>
              <a:t>Weak Hashing Algorithms</a:t>
            </a:r>
            <a:endParaRPr sz="1400"/>
          </a:p>
          <a:p>
            <a:pPr indent="-317500" lvl="1" marL="914400" rtl="0" algn="l">
              <a:spcBef>
                <a:spcPts val="0"/>
              </a:spcBef>
              <a:spcAft>
                <a:spcPts val="0"/>
              </a:spcAft>
              <a:buSzPts val="1400"/>
              <a:buChar char="○"/>
            </a:pPr>
            <a:r>
              <a:t/>
            </a:r>
            <a:endParaRPr/>
          </a:p>
          <a:p>
            <a:pPr indent="-317500" lvl="0" marL="457200" rtl="0" algn="l">
              <a:spcBef>
                <a:spcPts val="0"/>
              </a:spcBef>
              <a:spcAft>
                <a:spcPts val="0"/>
              </a:spcAft>
              <a:buSzPts val="1400"/>
              <a:buChar char="●"/>
            </a:pPr>
            <a:r>
              <a:rPr lang="en" sz="1400"/>
              <a:t>Misconfigured Cron Job</a:t>
            </a:r>
            <a:endParaRPr sz="1400"/>
          </a:p>
          <a:p>
            <a:pPr indent="-317500" lvl="1" marL="914400" rtl="0" algn="l">
              <a:spcBef>
                <a:spcPts val="0"/>
              </a:spcBef>
              <a:spcAft>
                <a:spcPts val="0"/>
              </a:spcAft>
              <a:buSzPts val="1400"/>
              <a:buChar char="○"/>
            </a:pPr>
            <a:r>
              <a:t/>
            </a:r>
            <a:endParaRPr/>
          </a:p>
          <a:p>
            <a:pPr indent="-317500" lvl="0" marL="457200" rtl="0" algn="l">
              <a:spcBef>
                <a:spcPts val="0"/>
              </a:spcBef>
              <a:spcAft>
                <a:spcPts val="0"/>
              </a:spcAft>
              <a:buSzPts val="1400"/>
              <a:buChar char="●"/>
            </a:pPr>
            <a:r>
              <a:rPr lang="en" sz="1400"/>
              <a:t>Outbound Network Connections</a:t>
            </a:r>
            <a:endParaRPr sz="1400"/>
          </a:p>
          <a:p>
            <a:pPr indent="-317500" lvl="1" marL="914400" rtl="0" algn="l">
              <a:spcBef>
                <a:spcPts val="0"/>
              </a:spcBef>
              <a:spcAft>
                <a:spcPts val="0"/>
              </a:spcAft>
              <a:buSzPts val="1400"/>
              <a:buChar char="○"/>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Report</a:t>
            </a:r>
            <a:endParaRPr/>
          </a:p>
        </p:txBody>
      </p:sp>
      <p:sp>
        <p:nvSpPr>
          <p:cNvPr id="165" name="Google Shape;165;p26"/>
          <p:cNvSpPr txBox="1"/>
          <p:nvPr>
            <p:ph idx="1" type="body"/>
          </p:nvPr>
        </p:nvSpPr>
        <p:spPr>
          <a:xfrm>
            <a:off x="311700" y="1152475"/>
            <a:ext cx="8520600" cy="3777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sz="1400"/>
              <a:t>Incoming Network Connections</a:t>
            </a:r>
            <a:endParaRPr sz="1400"/>
          </a:p>
          <a:p>
            <a:pPr indent="-317500" lvl="1" marL="914400" rtl="0" algn="l">
              <a:spcBef>
                <a:spcPts val="0"/>
              </a:spcBef>
              <a:spcAft>
                <a:spcPts val="0"/>
              </a:spcAft>
              <a:buSzPts val="1400"/>
              <a:buChar char="○"/>
            </a:pPr>
            <a:r>
              <a:rPr lang="en"/>
              <a:t>Block/Drop and log unnecessary services</a:t>
            </a:r>
            <a:endParaRPr/>
          </a:p>
          <a:p>
            <a:pPr indent="-317500" lvl="0" marL="457200" rtl="0" algn="l">
              <a:spcBef>
                <a:spcPts val="0"/>
              </a:spcBef>
              <a:spcAft>
                <a:spcPts val="0"/>
              </a:spcAft>
              <a:buSzPts val="1400"/>
              <a:buChar char="●"/>
            </a:pPr>
            <a:r>
              <a:rPr lang="en" sz="1400"/>
              <a:t>FTP</a:t>
            </a:r>
            <a:endParaRPr sz="1400"/>
          </a:p>
          <a:p>
            <a:pPr indent="-317500" lvl="1" marL="914400" rtl="0" algn="l">
              <a:spcBef>
                <a:spcPts val="0"/>
              </a:spcBef>
              <a:spcAft>
                <a:spcPts val="0"/>
              </a:spcAft>
              <a:buSzPts val="1400"/>
              <a:buChar char="○"/>
            </a:pPr>
            <a:r>
              <a:rPr lang="en"/>
              <a:t>SFTP</a:t>
            </a:r>
            <a:endParaRPr/>
          </a:p>
          <a:p>
            <a:pPr indent="-317500" lvl="0" marL="457200" rtl="0" algn="l">
              <a:spcBef>
                <a:spcPts val="0"/>
              </a:spcBef>
              <a:spcAft>
                <a:spcPts val="0"/>
              </a:spcAft>
              <a:buSzPts val="1400"/>
              <a:buChar char="●"/>
            </a:pPr>
            <a:r>
              <a:rPr lang="en" sz="1400"/>
              <a:t>Backup files</a:t>
            </a:r>
            <a:endParaRPr sz="1400"/>
          </a:p>
          <a:p>
            <a:pPr indent="-317500" lvl="1" marL="914400" rtl="0" algn="l">
              <a:spcBef>
                <a:spcPts val="0"/>
              </a:spcBef>
              <a:spcAft>
                <a:spcPts val="0"/>
              </a:spcAft>
              <a:buSzPts val="1400"/>
              <a:buChar char="○"/>
            </a:pPr>
            <a:r>
              <a:rPr lang="en"/>
              <a:t>File permissions</a:t>
            </a:r>
            <a:endParaRPr/>
          </a:p>
          <a:p>
            <a:pPr indent="-317500" lvl="1" marL="914400" rtl="0" algn="l">
              <a:spcBef>
                <a:spcPts val="0"/>
              </a:spcBef>
              <a:spcAft>
                <a:spcPts val="0"/>
              </a:spcAft>
              <a:buSzPts val="1400"/>
              <a:buChar char="○"/>
            </a:pPr>
            <a:r>
              <a:rPr lang="en"/>
              <a:t>Carelessness</a:t>
            </a:r>
            <a:endParaRPr/>
          </a:p>
          <a:p>
            <a:pPr indent="-317500" lvl="0" marL="457200" rtl="0" algn="l">
              <a:spcBef>
                <a:spcPts val="0"/>
              </a:spcBef>
              <a:spcAft>
                <a:spcPts val="0"/>
              </a:spcAft>
              <a:buSzPts val="1400"/>
              <a:buChar char="●"/>
            </a:pPr>
            <a:r>
              <a:rPr lang="en" sz="1400"/>
              <a:t>Password Reuse</a:t>
            </a:r>
            <a:endParaRPr sz="1400"/>
          </a:p>
          <a:p>
            <a:pPr indent="-317500" lvl="1" marL="914400" rtl="0" algn="l">
              <a:spcBef>
                <a:spcPts val="0"/>
              </a:spcBef>
              <a:spcAft>
                <a:spcPts val="0"/>
              </a:spcAft>
              <a:buSzPts val="1400"/>
              <a:buChar char="○"/>
            </a:pPr>
            <a:r>
              <a:rPr lang="en"/>
              <a:t>HaveIBeenPwned</a:t>
            </a:r>
            <a:endParaRPr/>
          </a:p>
          <a:p>
            <a:pPr indent="-317500" lvl="0" marL="457200" rtl="0" algn="l">
              <a:spcBef>
                <a:spcPts val="0"/>
              </a:spcBef>
              <a:spcAft>
                <a:spcPts val="0"/>
              </a:spcAft>
              <a:buSzPts val="1400"/>
              <a:buChar char="●"/>
            </a:pPr>
            <a:r>
              <a:rPr lang="en" sz="1400"/>
              <a:t>Weak Hashing Algorithms</a:t>
            </a:r>
            <a:endParaRPr sz="1400"/>
          </a:p>
          <a:p>
            <a:pPr indent="-317500" lvl="1" marL="914400" rtl="0" algn="l">
              <a:spcBef>
                <a:spcPts val="0"/>
              </a:spcBef>
              <a:spcAft>
                <a:spcPts val="0"/>
              </a:spcAft>
              <a:buSzPts val="1400"/>
              <a:buChar char="○"/>
            </a:pPr>
            <a:r>
              <a:rPr lang="en"/>
              <a:t>Configuration Change</a:t>
            </a:r>
            <a:endParaRPr/>
          </a:p>
          <a:p>
            <a:pPr indent="-317500" lvl="0" marL="457200" rtl="0" algn="l">
              <a:spcBef>
                <a:spcPts val="0"/>
              </a:spcBef>
              <a:spcAft>
                <a:spcPts val="0"/>
              </a:spcAft>
              <a:buSzPts val="1400"/>
              <a:buChar char="●"/>
            </a:pPr>
            <a:r>
              <a:rPr lang="en" sz="1400"/>
              <a:t>Misconfigured Cron Job</a:t>
            </a:r>
            <a:endParaRPr sz="1400"/>
          </a:p>
          <a:p>
            <a:pPr indent="-317500" lvl="1" marL="914400" rtl="0" algn="l">
              <a:spcBef>
                <a:spcPts val="0"/>
              </a:spcBef>
              <a:spcAft>
                <a:spcPts val="0"/>
              </a:spcAft>
              <a:buSzPts val="1400"/>
              <a:buChar char="○"/>
            </a:pPr>
            <a:r>
              <a:rPr lang="en"/>
              <a:t>File permissions</a:t>
            </a:r>
            <a:endParaRPr/>
          </a:p>
          <a:p>
            <a:pPr indent="-317500" lvl="0" marL="457200" rtl="0" algn="l">
              <a:spcBef>
                <a:spcPts val="0"/>
              </a:spcBef>
              <a:spcAft>
                <a:spcPts val="0"/>
              </a:spcAft>
              <a:buSzPts val="1400"/>
              <a:buChar char="●"/>
            </a:pPr>
            <a:r>
              <a:rPr lang="en" sz="1400"/>
              <a:t>Outgoing Network Connections</a:t>
            </a:r>
            <a:endParaRPr sz="1400"/>
          </a:p>
          <a:p>
            <a:pPr indent="-317500" lvl="1" marL="914400" rtl="0" algn="l">
              <a:spcBef>
                <a:spcPts val="0"/>
              </a:spcBef>
              <a:spcAft>
                <a:spcPts val="0"/>
              </a:spcAft>
              <a:buSzPts val="1400"/>
              <a:buChar char="○"/>
            </a:pPr>
            <a:r>
              <a:rPr lang="en"/>
              <a:t>Block/Drop and log non-standard ports</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References and other Pen Testing Resources	</a:t>
            </a:r>
            <a:endParaRPr/>
          </a:p>
        </p:txBody>
      </p:sp>
      <p:sp>
        <p:nvSpPr>
          <p:cNvPr id="171" name="Google Shape;171;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0000"/>
                </a:solidFill>
              </a:rPr>
              <a:t>https://wiki.archlinux.org/index.php/SHA_password_hashes</a:t>
            </a:r>
            <a:endParaRPr sz="1000">
              <a:solidFill>
                <a:srgbClr val="000000"/>
              </a:solidFill>
            </a:endParaRPr>
          </a:p>
          <a:p>
            <a:pPr indent="0" lvl="0" marL="0" rtl="0" algn="l">
              <a:spcBef>
                <a:spcPts val="1600"/>
              </a:spcBef>
              <a:spcAft>
                <a:spcPts val="0"/>
              </a:spcAft>
              <a:buNone/>
            </a:pPr>
            <a:r>
              <a:rPr lang="en" sz="1000">
                <a:solidFill>
                  <a:srgbClr val="000000"/>
                </a:solidFill>
              </a:rPr>
              <a:t>https://www.openwall.com/john/doc/MODES.shtml</a:t>
            </a:r>
            <a:endParaRPr sz="1000">
              <a:solidFill>
                <a:srgbClr val="000000"/>
              </a:solidFill>
            </a:endParaRPr>
          </a:p>
          <a:p>
            <a:pPr indent="0" lvl="0" marL="0" rtl="0" algn="l">
              <a:lnSpc>
                <a:spcPct val="100000"/>
              </a:lnSpc>
              <a:spcBef>
                <a:spcPts val="1600"/>
              </a:spcBef>
              <a:spcAft>
                <a:spcPts val="0"/>
              </a:spcAft>
              <a:buNone/>
            </a:pPr>
            <a:r>
              <a:rPr lang="en" sz="1000" u="sng">
                <a:solidFill>
                  <a:schemeClr val="hlink"/>
                </a:solidFill>
                <a:hlinkClick r:id="rId3"/>
              </a:rPr>
              <a:t>https://nvlpubs.nist.gov/nistpubs/Legacy/SP/nistspecialpublication800-115.pdf</a:t>
            </a:r>
            <a:endParaRPr sz="1000">
              <a:solidFill>
                <a:srgbClr val="000000"/>
              </a:solidFill>
            </a:endParaRPr>
          </a:p>
          <a:p>
            <a:pPr indent="0" lvl="0" marL="0" rtl="0" algn="l">
              <a:lnSpc>
                <a:spcPct val="100000"/>
              </a:lnSpc>
              <a:spcBef>
                <a:spcPts val="0"/>
              </a:spcBef>
              <a:spcAft>
                <a:spcPts val="0"/>
              </a:spcAft>
              <a:buNone/>
            </a:pPr>
            <a:r>
              <a:t/>
            </a:r>
            <a:endParaRPr sz="1000">
              <a:solidFill>
                <a:srgbClr val="000000"/>
              </a:solidFill>
            </a:endParaRPr>
          </a:p>
          <a:p>
            <a:pPr indent="0" lvl="0" marL="0" rtl="0" algn="l">
              <a:lnSpc>
                <a:spcPct val="100000"/>
              </a:lnSpc>
              <a:spcBef>
                <a:spcPts val="0"/>
              </a:spcBef>
              <a:spcAft>
                <a:spcPts val="0"/>
              </a:spcAft>
              <a:buNone/>
            </a:pPr>
            <a:r>
              <a:rPr lang="en" sz="1100" u="sng">
                <a:solidFill>
                  <a:schemeClr val="hlink"/>
                </a:solidFill>
                <a:hlinkClick r:id="rId4"/>
              </a:rPr>
              <a:t>https://nmap.org/book/</a:t>
            </a:r>
            <a:endParaRPr sz="1000">
              <a:solidFill>
                <a:srgbClr val="000000"/>
              </a:solidFill>
            </a:endParaRPr>
          </a:p>
          <a:p>
            <a:pPr indent="0" lvl="0" marL="0" rtl="0" algn="l">
              <a:lnSpc>
                <a:spcPct val="100000"/>
              </a:lnSpc>
              <a:spcBef>
                <a:spcPts val="0"/>
              </a:spcBef>
              <a:spcAft>
                <a:spcPts val="0"/>
              </a:spcAft>
              <a:buNone/>
            </a:pPr>
            <a:r>
              <a:t/>
            </a:r>
            <a:endParaRPr sz="1000">
              <a:solidFill>
                <a:srgbClr val="000000"/>
              </a:solidFill>
            </a:endParaRPr>
          </a:p>
          <a:p>
            <a:pPr indent="0" lvl="0" marL="0" rtl="0" algn="l">
              <a:lnSpc>
                <a:spcPct val="100000"/>
              </a:lnSpc>
              <a:spcBef>
                <a:spcPts val="0"/>
              </a:spcBef>
              <a:spcAft>
                <a:spcPts val="0"/>
              </a:spcAft>
              <a:buNone/>
            </a:pPr>
            <a:r>
              <a:rPr lang="en" sz="1000">
                <a:solidFill>
                  <a:srgbClr val="000000"/>
                </a:solidFill>
              </a:rPr>
              <a:t>The Penetration Testing Execution Standard: </a:t>
            </a:r>
            <a:r>
              <a:rPr lang="en" sz="1000" u="sng">
                <a:solidFill>
                  <a:schemeClr val="hlink"/>
                </a:solidFill>
                <a:hlinkClick r:id="rId5"/>
              </a:rPr>
              <a:t>http://www.pentest-standard.org/index.php/Main_Page</a:t>
            </a:r>
            <a:endParaRPr sz="1000">
              <a:solidFill>
                <a:srgbClr val="000000"/>
              </a:solidFill>
            </a:endParaRPr>
          </a:p>
          <a:p>
            <a:pPr indent="0" lvl="0" marL="0" rtl="0" algn="l">
              <a:lnSpc>
                <a:spcPct val="100000"/>
              </a:lnSpc>
              <a:spcBef>
                <a:spcPts val="0"/>
              </a:spcBef>
              <a:spcAft>
                <a:spcPts val="0"/>
              </a:spcAft>
              <a:buNone/>
            </a:pPr>
            <a:r>
              <a:t/>
            </a:r>
            <a:endParaRPr sz="1000">
              <a:solidFill>
                <a:srgbClr val="000000"/>
              </a:solidFill>
            </a:endParaRPr>
          </a:p>
          <a:p>
            <a:pPr indent="0" lvl="0" marL="0" rtl="0" algn="l">
              <a:lnSpc>
                <a:spcPct val="100000"/>
              </a:lnSpc>
              <a:spcBef>
                <a:spcPts val="0"/>
              </a:spcBef>
              <a:spcAft>
                <a:spcPts val="0"/>
              </a:spcAft>
              <a:buNone/>
            </a:pPr>
            <a:r>
              <a:rPr lang="en" sz="1000">
                <a:solidFill>
                  <a:srgbClr val="000000"/>
                </a:solidFill>
              </a:rPr>
              <a:t>Open Source Pentesting: </a:t>
            </a:r>
            <a:r>
              <a:rPr lang="en" sz="1000" u="sng">
                <a:solidFill>
                  <a:schemeClr val="hlink"/>
                </a:solidFill>
                <a:hlinkClick r:id="rId6"/>
              </a:rPr>
              <a:t>https://malicious.link/post/2017/open-source-pentesting/</a:t>
            </a:r>
            <a:endParaRPr sz="1000">
              <a:solidFill>
                <a:srgbClr val="000000"/>
              </a:solidFill>
            </a:endParaRPr>
          </a:p>
          <a:p>
            <a:pPr indent="0" lvl="0" marL="0" rtl="0" algn="l">
              <a:lnSpc>
                <a:spcPct val="100000"/>
              </a:lnSpc>
              <a:spcBef>
                <a:spcPts val="0"/>
              </a:spcBef>
              <a:spcAft>
                <a:spcPts val="0"/>
              </a:spcAft>
              <a:buNone/>
            </a:pPr>
            <a:r>
              <a:t/>
            </a:r>
            <a:endParaRPr sz="1000">
              <a:solidFill>
                <a:srgbClr val="000000"/>
              </a:solidFill>
            </a:endParaRPr>
          </a:p>
          <a:p>
            <a:pPr indent="0" lvl="0" marL="0" rtl="0" algn="l">
              <a:lnSpc>
                <a:spcPct val="100000"/>
              </a:lnSpc>
              <a:spcBef>
                <a:spcPts val="0"/>
              </a:spcBef>
              <a:spcAft>
                <a:spcPts val="0"/>
              </a:spcAft>
              <a:buNone/>
            </a:pPr>
            <a:r>
              <a:rPr lang="en" sz="1000">
                <a:solidFill>
                  <a:srgbClr val="000000"/>
                </a:solidFill>
              </a:rPr>
              <a:t>The Cyber Mentor Zero to Hero Pen Testing Videos: </a:t>
            </a:r>
            <a:r>
              <a:rPr lang="en" sz="1100" u="sng">
                <a:solidFill>
                  <a:schemeClr val="hlink"/>
                </a:solidFill>
                <a:hlinkClick r:id="rId7"/>
              </a:rPr>
              <a:t>https://www.youtube.com/playlist?list=PLLKT__MCUeiwBa7d7F_vN1GUwz_2TmVQj</a:t>
            </a:r>
            <a:endParaRPr sz="1000">
              <a:solidFill>
                <a:srgbClr val="000000"/>
              </a:solidFill>
            </a:endParaRPr>
          </a:p>
          <a:p>
            <a:pPr indent="0" lvl="0" marL="0" rtl="0" algn="l">
              <a:lnSpc>
                <a:spcPct val="100000"/>
              </a:lnSpc>
              <a:spcBef>
                <a:spcPts val="0"/>
              </a:spcBef>
              <a:spcAft>
                <a:spcPts val="0"/>
              </a:spcAft>
              <a:buNone/>
            </a:pPr>
            <a:r>
              <a:t/>
            </a:r>
            <a:endParaRPr sz="1000">
              <a:solidFill>
                <a:srgbClr val="000000"/>
              </a:solidFill>
            </a:endParaRPr>
          </a:p>
          <a:p>
            <a:pPr indent="0" lvl="0" marL="0" rtl="0" algn="l">
              <a:lnSpc>
                <a:spcPct val="100000"/>
              </a:lnSpc>
              <a:spcBef>
                <a:spcPts val="0"/>
              </a:spcBef>
              <a:spcAft>
                <a:spcPts val="0"/>
              </a:spcAft>
              <a:buNone/>
            </a:pPr>
            <a:r>
              <a:t/>
            </a:r>
            <a:endParaRPr sz="10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